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56032" cy="6858000"/>
          </a:xfrm>
          <a:prstGeom prst="roundRect">
            <a:avLst>
              <a:gd name="adj" fmla="val 6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94A3B8"/>
                </a:solidFill>
                <a:latin typeface="Arial"/>
              </a:rPr>
              <a:t>SKY INNOVATION  ·  AUTOMATE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5176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5400" b="1">
                <a:solidFill>
                  <a:srgbClr val="0F172A"/>
                </a:solidFill>
                <a:latin typeface="Arial"/>
              </a:rPr>
              <a:t>Compliance Radar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7947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200" b="0">
                <a:solidFill>
                  <a:srgbClr val="475569"/>
                </a:solidFill>
                <a:latin typeface="Arial"/>
              </a:rPr>
              <a:t>Deadlines nobody sends you, and the ones hiding behind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Roberto Lozano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"/>
          </a:xfrm>
          <a:prstGeom prst="roundRect">
            <a:avLst>
              <a:gd name="adj" fmla="val 6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94A3B8"/>
                </a:solidFill>
                <a:latin typeface="Arial"/>
              </a:rPr>
              <a:t>THE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Arial"/>
              </a:rPr>
              <a:t>What I built it with.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10607040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75687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Next.js + React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2075687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Arial"/>
              </a:rPr>
              <a:t>Pages query the database directly. No API layer to maintain.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59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PostgreSQL + Prisma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880359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Arial"/>
              </a:rPr>
              <a:t>Real relations and constraints. Migrations I can review.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483863"/>
            <a:ext cx="10607040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685031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Raw SQL for aggregates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685031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Arial"/>
              </a:rPr>
              <a:t>Ranking and rollups read better as SQL than as ORM calls.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489703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A pure TypeScript rules module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4489703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Arial"/>
              </a:rPr>
              <a:t>No framework, no I/O — so the logic is testable and portable.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093207"/>
            <a:ext cx="10607040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294375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Vitest + Playwright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5294375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Arial"/>
              </a:rPr>
              <a:t>Fast tests with no database; a browser only where it's needed.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08076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Arial"/>
              </a:rPr>
              <a:t>One deliberate constraint: the compliance logic imports nothing — so it tests without fixtures and runs in the browser unchanged.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"/>
          </a:xfrm>
          <a:prstGeom prst="roundRect">
            <a:avLst>
              <a:gd name="adj" fmla="val 6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94A3B8"/>
                </a:solidFill>
                <a:latin typeface="Arial"/>
              </a:rPr>
              <a:t>WHERE I BEGAN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Arial"/>
              </a:rPr>
              <a:t>I started with the business, not the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6070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800">
                <a:solidFill>
                  <a:srgbClr val="475569"/>
                </a:solidFill>
                <a:latin typeface="Arial"/>
              </a:rPr>
              <a:t>Sky Transport Solutions isn't a trucking company.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800">
                <a:solidFill>
                  <a:srgbClr val="475569"/>
                </a:solidFill>
                <a:latin typeface="Arial"/>
              </a:rPr>
              <a:t>They're the outsourced paperwork department for ~18,000 carriers — about 25 people.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800">
                <a:solidFill>
                  <a:srgbClr val="475569"/>
                </a:solidFill>
                <a:latin typeface="Arial"/>
              </a:rPr>
              <a:t>Their customers are owner-operators. The guy who owns the truck is driving it.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800">
                <a:solidFill>
                  <a:srgbClr val="475569"/>
                </a:solidFill>
                <a:latin typeface="Arial"/>
              </a:rPr>
              <a:t>Memberships run $199–$399 per truck per year, tiered by how many renewals Sky remembers for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480560"/>
            <a:ext cx="10607040" cy="10972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8463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1">
                <a:solidFill>
                  <a:srgbClr val="1E3A8A"/>
                </a:solidFill>
                <a:latin typeface="Arial"/>
              </a:rPr>
              <a:t>So they sell memory. That reframed the whole problem.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"/>
          </a:xfrm>
          <a:prstGeom prst="roundRect">
            <a:avLst>
              <a:gd name="adj" fmla="val 6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94A3B8"/>
                </a:solidFill>
                <a:latin typeface="Arial"/>
              </a:rPr>
              <a:t>WHAT I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Arial"/>
              </a:rPr>
              <a:t>Where it hurts.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10607040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75687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Nobody sends a bill.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075687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Arial"/>
              </a:rPr>
              <a:t>Deadlines are derived. One is encoded in the carrier's own DOT number.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79191"/>
            <a:ext cx="10607040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880359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Filings block each other.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880359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Arial"/>
              </a:rPr>
              <a:t>No tax receipt, no plate renewal. No emissions check, no registration.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483863"/>
            <a:ext cx="10607040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685031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The client is driving.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685031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Arial"/>
              </a:rPr>
              <a:t>You can't collect a document from someone on I-5.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288535"/>
            <a:ext cx="10607040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489703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Everything lands at once.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4489703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Arial"/>
              </a:rPr>
              <a:t>Four fuel tax dates a year, on every client, simultaneously.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093207"/>
            <a:ext cx="10607040" cy="74980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294375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One miss costs more than the fee.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5294375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Arial"/>
              </a:rPr>
              <a:t>$199 to remember. ~$800 a day when a truck is parked.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"/>
          </a:xfrm>
          <a:prstGeom prst="roundRect">
            <a:avLst>
              <a:gd name="adj" fmla="val 6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94A3B8"/>
                </a:solidFill>
                <a:latin typeface="Arial"/>
              </a:rPr>
              <a:t>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Arial"/>
              </a:rPr>
              <a:t>I picked three.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37560" cy="228600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3337560" cy="73152"/>
          </a:xfrm>
          <a:prstGeom prst="roundRect">
            <a:avLst>
              <a:gd name="adj" fmla="val 6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37744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Derive the deadlines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971800"/>
            <a:ext cx="27889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Arial"/>
              </a:rPr>
              <a:t>Encode the regulations, don't store dates.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011680"/>
            <a:ext cx="3337560" cy="228600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3400" y="2011680"/>
            <a:ext cx="3337560" cy="73152"/>
          </a:xfrm>
          <a:prstGeom prst="roundRect">
            <a:avLst>
              <a:gd name="adj" fmla="val 6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237744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Model what blocks what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971800"/>
            <a:ext cx="27889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Arial"/>
              </a:rPr>
              <a:t>The chain is the part no calendar shows.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9560" y="2011680"/>
            <a:ext cx="3337560" cy="228600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09560" y="2011680"/>
            <a:ext cx="3337560" cy="73152"/>
          </a:xfrm>
          <a:prstGeom prst="roundRect">
            <a:avLst>
              <a:gd name="adj" fmla="val 6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237744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Collect the documents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971800"/>
            <a:ext cx="27889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Arial"/>
              </a:rPr>
              <a:t>Ask early, chase automatically, read what arrives.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548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Arial"/>
              </a:rPr>
              <a:t>The rest — seasonal planning, filing packets, coverage gaps — fell out of the same engine once it existed.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"/>
          </a:xfrm>
          <a:prstGeom prst="roundRect">
            <a:avLst>
              <a:gd name="adj" fmla="val 6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94A3B8"/>
                </a:solidFill>
                <a:latin typeface="Arial"/>
              </a:rPr>
              <a:t>HOW I ADDRESSED IT — 1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Arial"/>
              </a:rPr>
              <a:t>Deriving the deadlines.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6070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800">
                <a:solidFill>
                  <a:srgbClr val="475569"/>
                </a:solidFill>
                <a:latin typeface="Arial"/>
              </a:rPr>
              <a:t>Seven rules, each carrying the regulation it came from.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800">
                <a:solidFill>
                  <a:srgbClr val="475569"/>
                </a:solidFill>
                <a:latin typeface="Arial"/>
              </a:rPr>
              <a:t>One is derived from digits in the DOT number. Nobody is ever told that date.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800">
                <a:solidFill>
                  <a:srgbClr val="475569"/>
                </a:solidFill>
                <a:latin typeface="Arial"/>
              </a:rPr>
              <a:t>Two are marked "needs review" — I wasn't certain, so the app says so.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800">
                <a:solidFill>
                  <a:srgbClr val="475569"/>
                </a:solidFill>
                <a:latin typeface="Arial"/>
              </a:rPr>
              <a:t>Ambiguous dates are refused, not guessed. 03/04 could be March or April.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480560"/>
            <a:ext cx="10607040" cy="11887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8920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E3A8A"/>
                </a:solidFill>
                <a:latin typeface="Arial"/>
              </a:rPr>
              <a:t>A rule that looks confident and is wrong is worse than one that admits it isn't sure.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"/>
          </a:xfrm>
          <a:prstGeom prst="roundRect">
            <a:avLst>
              <a:gd name="adj" fmla="val 6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94A3B8"/>
                </a:solidFill>
                <a:latin typeface="Arial"/>
              </a:rPr>
              <a:t>HOW I ADDRESSED IT — 2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Arial"/>
              </a:rPr>
              <a:t>The date nobody's calendar contains.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2834640" cy="114300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2834640" cy="64008"/>
          </a:xfrm>
          <a:prstGeom prst="roundRect">
            <a:avLst>
              <a:gd name="adj" fmla="val 6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Emissions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Arial"/>
              </a:rPr>
              <a:t>Aug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24688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94A3B8"/>
                </a:solidFill>
                <a:latin typeface="Arial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2057400"/>
            <a:ext cx="2834640" cy="114300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60520" y="2057400"/>
            <a:ext cx="2834640" cy="64008"/>
          </a:xfrm>
          <a:prstGeom prst="roundRect">
            <a:avLst>
              <a:gd name="adj" fmla="val 6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3317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Heavy vehicle tax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6974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Arial"/>
              </a:rPr>
              <a:t>Aug 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4688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94A3B8"/>
                </a:solidFill>
                <a:latin typeface="Arial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2057400"/>
            <a:ext cx="2834640" cy="114300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543800" y="2057400"/>
            <a:ext cx="2834640" cy="64008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3317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Plate renewal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974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Arial"/>
              </a:rPr>
              <a:t>Sep 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331012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B91C1C"/>
                </a:solidFill>
                <a:latin typeface="Arial"/>
              </a:rPr>
              <a:t>TRUCK STOPS BEING LEGAL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77639"/>
            <a:ext cx="106070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800">
                <a:solidFill>
                  <a:srgbClr val="475569"/>
                </a:solidFill>
                <a:latin typeface="Arial"/>
              </a:rPr>
              <a:t>The plate looks like a September problem.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800">
                <a:solidFill>
                  <a:srgbClr val="475569"/>
                </a:solidFill>
                <a:latin typeface="Arial"/>
              </a:rPr>
              <a:t>It's an August one — miss the emissions check and the renewal can't complete.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800">
                <a:solidFill>
                  <a:srgbClr val="475569"/>
                </a:solidFill>
                <a:latin typeface="Arial"/>
              </a:rPr>
              <a:t>That truck is on the plan that doesn't cover plate renewals.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"/>
          </a:xfrm>
          <a:prstGeom prst="roundRect">
            <a:avLst>
              <a:gd name="adj" fmla="val 6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94A3B8"/>
                </a:solidFill>
                <a:latin typeface="Arial"/>
              </a:rPr>
              <a:t>HOW I ADDRESSED IT — 3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Arial"/>
              </a:rPr>
              <a:t>Getting documents off a driver's phone.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6070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800">
                <a:solidFill>
                  <a:srgbClr val="475569"/>
                </a:solidFill>
                <a:latin typeface="Arial"/>
              </a:rPr>
              <a:t>We ask 60 days before expiry, then chase on a fixed ladder. Texts first — he's driving.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800">
                <a:solidFill>
                  <a:srgbClr val="475569"/>
                </a:solidFill>
                <a:latin typeface="Arial"/>
              </a:rPr>
              <a:t>He photographs it at a truck stop. No app, no login.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800">
                <a:solidFill>
                  <a:srgbClr val="475569"/>
                </a:solidFill>
                <a:latin typeface="Arial"/>
              </a:rPr>
              <a:t>The image is shrunk in the browser, because signal out there is bad.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800">
                <a:solidFill>
                  <a:srgbClr val="475569"/>
                </a:solidFill>
                <a:latin typeface="Arial"/>
              </a:rPr>
              <a:t>A model reads it. Then a person confirms it before anything is filed.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526280"/>
            <a:ext cx="10607040" cy="11887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9377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1E3A8A"/>
                </a:solidFill>
                <a:latin typeface="Arial"/>
              </a:rPr>
              <a:t>Extraction proposes. A person commits. A misread expiry date is the exact failure this thing exists to prevent.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"/>
          </a:xfrm>
          <a:prstGeom prst="roundRect">
            <a:avLst>
              <a:gd name="adj" fmla="val 6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94A3B8"/>
                </a:solidFill>
                <a:latin typeface="Arial"/>
              </a:rPr>
              <a:t>HOW I WORKED WITH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Arial"/>
              </a:rPr>
              <a:t>Research first, then encode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6070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800">
                <a:solidFill>
                  <a:srgbClr val="475569"/>
                </a:solidFill>
                <a:latin typeface="Arial"/>
              </a:rPr>
              <a:t>I learned the domain before writing anything. That's why the rules carry citations.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800">
                <a:solidFill>
                  <a:srgbClr val="475569"/>
                </a:solidFill>
                <a:latin typeface="Arial"/>
              </a:rPr>
              <a:t>Then I turned that context into five subagents, committed to the repo.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800">
                <a:solidFill>
                  <a:srgbClr val="475569"/>
                </a:solidFill>
                <a:latin typeface="Arial"/>
              </a:rPr>
              <a:t>Compliance, data layer, security, testing, design — each holds judgment the code doesn't.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800">
                <a:solidFill>
                  <a:srgbClr val="475569"/>
                </a:solidFill>
                <a:latin typeface="Arial"/>
              </a:rPr>
              <a:t>I rejected five more. "Look for bugs" isn't knowledge, it's default behaviour.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526280"/>
            <a:ext cx="10607040" cy="11887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9377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E3A8A"/>
                </a:solidFill>
                <a:latin typeface="Arial"/>
              </a:rPr>
              <a:t>Deciding what not to build was the harder half.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"/>
          </a:xfrm>
          <a:prstGeom prst="roundRect">
            <a:avLst>
              <a:gd name="adj" fmla="val 6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94A3B8"/>
                </a:solidFill>
                <a:latin typeface="Arial"/>
              </a:rPr>
              <a:t>WHAT HAPPENED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Arial"/>
              </a:rPr>
              <a:t>The tests caught two real bugs.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20240"/>
            <a:ext cx="5166360" cy="283464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920240"/>
            <a:ext cx="5166360" cy="73152"/>
          </a:xfrm>
          <a:prstGeom prst="roundRect">
            <a:avLst>
              <a:gd name="adj" fmla="val 6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0F172A"/>
                </a:solidFill>
                <a:latin typeface="Arial"/>
              </a:rPr>
              <a:t>Valid PDFs were rejected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4320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Arial"/>
              </a:rPr>
              <a:t>I trusted the browser's file type. It's guessed from the extension, so a file without one reported nothing.
Now the server reads the first few bytes instead.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166360" cy="283464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920240"/>
            <a:ext cx="5166360" cy="73152"/>
          </a:xfrm>
          <a:prstGeom prst="roundRect">
            <a:avLst>
              <a:gd name="adj" fmla="val 6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24028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0F172A"/>
                </a:solidFill>
                <a:latin typeface="Arial"/>
              </a:rPr>
              <a:t>The simulator went quiet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4320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Arial"/>
              </a:rPr>
              <a:t>Slipping a deadline past the one it blocks deleted the link instead of breaking it — so it reported no problem.
In exactly the case it exists to show.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02920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Arial"/>
              </a:rPr>
              <a:t>111 tests. The interesting ones pin decisions — like refusing an ambiguous date — not implementations.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2296"/>
          </a:xfrm>
          <a:prstGeom prst="roundRect">
            <a:avLst>
              <a:gd name="adj" fmla="val 6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94A3B8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41248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0F172A"/>
                </a:solidFill>
                <a:latin typeface="Arial"/>
              </a:rPr>
              <a:t>Where it landed.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Arial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Arial"/>
              </a:rPr>
              <a:t>rules, each cited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4680" y="201168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Arial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Arial"/>
              </a:rPr>
              <a:t>routes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201168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Arial"/>
              </a:rPr>
              <a:t>111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Arial"/>
              </a:rPr>
              <a:t>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201168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  <a:latin typeface="Arial"/>
              </a:rPr>
              <a:t>1,150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Arial"/>
              </a:rPr>
              <a:t>deadlines derived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106070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800">
                <a:solidFill>
                  <a:srgbClr val="475569"/>
                </a:solidFill>
                <a:latin typeface="Arial"/>
              </a:rPr>
              <a:t>Three surfaces: a public walkthrough, a client portal, and the staff console.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800">
                <a:solidFill>
                  <a:srgbClr val="475569"/>
                </a:solidFill>
                <a:latin typeface="Arial"/>
              </a:rPr>
              <a:t>Live on Vercel and Neon.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572000"/>
            <a:ext cx="10607040" cy="123444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8463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>
                <a:solidFill>
                  <a:srgbClr val="1E3A8A"/>
                </a:solidFill>
                <a:latin typeface="Arial"/>
              </a:rPr>
              <a:t>Next: a live FMCSA lookup, so it runs on a real carrier instead of seeded data.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285232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475569"/>
                </a:solidFill>
                <a:latin typeface="Arial"/>
              </a:rPr>
              <a:t>And letting a confirmed document update the record, which today stops at the comparison.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256032" cy="6858000"/>
          </a:xfrm>
          <a:prstGeom prst="roundRect">
            <a:avLst>
              <a:gd name="adj" fmla="val 6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3774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600" b="1">
                <a:solidFill>
                  <a:srgbClr val="0F172A"/>
                </a:solidFill>
                <a:latin typeface="Arial"/>
              </a:rPr>
              <a:t>Let me show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5661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E3A8A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56616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Arial"/>
              </a:rPr>
              <a:t>The walkthrough — answer one question differently, watch the requirements halve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1148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E3A8A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411480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Arial"/>
              </a:rPr>
              <a:t>The work queue — and what a parked truck actually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663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E3A8A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66344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Arial"/>
              </a:rPr>
              <a:t>One truck — the chain, and the slider that breaks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2120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E3A8A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521208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Arial"/>
              </a:rPr>
              <a:t>The client's phone — send a document, watch it get read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